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92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491-4FB1-AF58-B39A5D8F9181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491-4FB1-AF58-B39A5D8F9181}"/>
              </c:ext>
            </c:extLst>
          </c:dPt>
          <c:dPt>
            <c:idx val="2"/>
            <c:invertIfNegative val="0"/>
            <c:bubble3D val="0"/>
            <c:spPr>
              <a:solidFill>
                <a:srgbClr val="F43F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491-4FB1-AF58-B39A5D8F918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12400</c:v>
                </c:pt>
                <c:pt idx="1">
                  <c:v>9800</c:v>
                </c:pt>
                <c:pt idx="2">
                  <c:v>8800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491-4FB1-AF58-B39A5D8F91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8FB-4F0E-A450-A16F159119F1}"/>
              </c:ext>
            </c:extLst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8FB-4F0E-A450-A16F159119F1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8FB-4F0E-A450-A16F159119F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LR (TF-IDF)</c:v>
                </c:pt>
                <c:pt idx="1">
                  <c:v>DistilBERT</c:v>
                </c:pt>
                <c:pt idx="2">
                  <c:v>Ensemble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</c:v>
                </c:pt>
                <c:pt idx="1">
                  <c:v>92</c:v>
                </c:pt>
                <c:pt idx="2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8FB-4F0E-A450-A16F159119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F1-Macro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8A1-47E8-B1C3-825C9160802E}"/>
              </c:ext>
            </c:extLst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8A1-47E8-B1C3-825C9160802E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8A1-47E8-B1C3-825C9160802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LR (TF-IDF)</c:v>
                </c:pt>
                <c:pt idx="1">
                  <c:v>DistilBERT</c:v>
                </c:pt>
                <c:pt idx="2">
                  <c:v>Ensemble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0.87</c:v>
                </c:pt>
                <c:pt idx="1">
                  <c:v>0.92</c:v>
                </c:pt>
                <c:pt idx="2">
                  <c:v>0.94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8A1-47E8-B1C3-825C916080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7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2948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-457200"/>
            <a:ext cx="2926080" cy="292608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2560320"/>
            <a:ext cx="1828800" cy="1828800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029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502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1097280"/>
            <a:ext cx="7772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Facebook Posts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Sentiment Analysis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388620" y="280015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NLP · NLTK · Transformers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11480" y="3252707"/>
            <a:ext cx="4572000" cy="36576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11480" y="344167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Prof. Dr. [Hesham El-Deeb]   ·   T.A. [Nardeen wageh]   ·   T.A. [Abdelrahman yehia]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1480" y="3810239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[Moaz Khalid Ibrahim Rageb]   ·   [Group: 7]  ·   [ID: 0100997]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[Micheal Perty Nasry]   ·   [Group: 8]  ·   [ID: 0102953]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132320" y="1188720"/>
            <a:ext cx="1645920" cy="475488"/>
          </a:xfrm>
          <a:prstGeom prst="rect">
            <a:avLst/>
          </a:prstGeom>
          <a:solidFill>
            <a:srgbClr val="10B981">
              <a:alpha val="80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0" y="11887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132320" y="1874520"/>
            <a:ext cx="1645920" cy="475488"/>
          </a:xfrm>
          <a:prstGeom prst="rect">
            <a:avLst/>
          </a:prstGeom>
          <a:solidFill>
            <a:srgbClr val="F59E0B">
              <a:alpha val="8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132320" y="18745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132320" y="2560320"/>
            <a:ext cx="1645920" cy="475488"/>
          </a:xfrm>
          <a:prstGeom prst="rect">
            <a:avLst/>
          </a:prstGeom>
          <a:solidFill>
            <a:srgbClr val="F43F5E">
              <a:alpha val="80000"/>
            </a:srgbClr>
          </a:solidFill>
          <a:ln w="1905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132320" y="25603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26517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91440" cy="1143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4.7B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users worldwide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115568"/>
            <a:ext cx="26517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1115568"/>
            <a:ext cx="91440" cy="1143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1143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74720" y="16276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published every day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115568"/>
            <a:ext cx="26517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1115568"/>
            <a:ext cx="91440" cy="114300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46520" y="1143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31K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46520" y="16276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samples in our dataset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487168"/>
            <a:ext cx="402336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487168"/>
            <a:ext cx="4023360" cy="384048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248716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Problem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29260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reading thousands of Facebook posts is impossible.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&amp; governments need real-time sentiment signals.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detection requires instant negative-sentiment alerts.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2487168"/>
            <a:ext cx="402336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46320" y="2487168"/>
            <a:ext cx="4023360" cy="3840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248716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Our Objective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29260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 classifier predicting Positive / Neutral / Negative.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classical ML vs. modern Transformer approaches.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interactive Streamlit GUI for live predictions.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51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Sentiment Analysis Dataset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74320" y="1691640"/>
            <a:ext cx="420624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11480" y="169164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286000" y="169164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~31,000 labeled posts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2194560"/>
            <a:ext cx="4206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11480" y="219456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Column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286000" y="219456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post_text (raw Facebook text)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" y="2697480"/>
            <a:ext cx="420624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11480" y="26974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Column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286000" y="269748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(3 classes)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74320" y="3200400"/>
            <a:ext cx="4206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11480" y="320040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286000" y="320040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clean dataset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74320" y="3703320"/>
            <a:ext cx="420624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11480" y="370332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286000" y="370332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93776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4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4663440" y="1371600"/>
          <a:ext cx="42976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— End-to-End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68680" cy="1417320"/>
          </a:xfrm>
          <a:prstGeom prst="rect">
            <a:avLst/>
          </a:prstGeom>
          <a:solidFill>
            <a:srgbClr val="2563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68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88720" y="1600200"/>
            <a:ext cx="64008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43584" y="1005840"/>
            <a:ext cx="868680" cy="1417320"/>
          </a:xfrm>
          <a:prstGeom prst="rect">
            <a:avLst/>
          </a:prstGeom>
          <a:solidFill>
            <a:srgbClr val="3B82F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43584" y="1051560"/>
            <a:ext cx="868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12264" y="1600200"/>
            <a:ext cx="64008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167128" y="1005840"/>
            <a:ext cx="868680" cy="1417320"/>
          </a:xfrm>
          <a:prstGeom prst="rect">
            <a:avLst/>
          </a:prstGeom>
          <a:solidFill>
            <a:srgbClr val="60A5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67128" y="1051560"/>
            <a:ext cx="868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35808" y="1600200"/>
            <a:ext cx="64008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090672" y="1005840"/>
            <a:ext cx="868680" cy="141732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90672" y="1051560"/>
            <a:ext cx="868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959352" y="1600200"/>
            <a:ext cx="64008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014216" y="1005840"/>
            <a:ext cx="868680" cy="1417320"/>
          </a:xfrm>
          <a:prstGeom prst="rect">
            <a:avLst/>
          </a:prstGeom>
          <a:solidFill>
            <a:srgbClr val="05966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14216" y="1051560"/>
            <a:ext cx="868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82896" y="1600200"/>
            <a:ext cx="64008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937760" y="1005840"/>
            <a:ext cx="868680" cy="141732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1051560"/>
            <a:ext cx="868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806440" y="1600200"/>
            <a:ext cx="64008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861304" y="1005840"/>
            <a:ext cx="868680" cy="1417320"/>
          </a:xfrm>
          <a:prstGeom prst="rect">
            <a:avLst/>
          </a:prstGeom>
          <a:solidFill>
            <a:srgbClr val="D9770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61304" y="1051560"/>
            <a:ext cx="868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29984" y="1600200"/>
            <a:ext cx="64008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784848" y="1005840"/>
            <a:ext cx="868680" cy="1417320"/>
          </a:xfrm>
          <a:prstGeom prst="rect">
            <a:avLst/>
          </a:prstGeom>
          <a:solidFill>
            <a:srgbClr val="F43F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84848" y="1051560"/>
            <a:ext cx="868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" y="2606040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read_csv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43584" y="2606040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67128" y="2606040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clouds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090672" y="2606040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014216" y="2606040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2606040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F1, acc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conf. matrix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61304" y="2606040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LR tuning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84848" y="2606040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429000"/>
            <a:ext cx="8503920" cy="137160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20040" y="3429000"/>
            <a:ext cx="91440" cy="13716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4360" y="3493008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 families are trained, evaluated, and combined into an ensemble — then wrapped in an interactive Streamlit GUI for live inference on any Facebook post.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3990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all text to lowercase for consistency.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65376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865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18013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Noise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1488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URLs (http...), @mentions, hashtags, special chars.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615184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615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255117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8986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common words (the, is, at) using NLTK corpus.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36499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364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33009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Lemmatisation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64845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words to root form: 'running' → 'run'.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 →  Cleaned Text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142646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166420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"Check out http://bit.ly/x! @JohnDoe I'm LOVING this app 😍 #BestApp"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231136"/>
            <a:ext cx="384048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0" y="23042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25420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"love app bestapp"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063240"/>
            <a:ext cx="4114800" cy="16916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3063240"/>
            <a:ext cx="91440" cy="16916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83480" y="31272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DistilBERT keeps raw text: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83480" y="3493008"/>
            <a:ext cx="3703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WordPiece tokeniser handles casing internally.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Preserving capital letters retains semantic signals (e.g. 'AMAZING').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cased text — cleaning degrades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Developed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0233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023360" cy="502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· Classical ML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2148840"/>
            <a:ext cx="3931920" cy="420624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214884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624328"/>
            <a:ext cx="39319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62432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262432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TF-IDF (unigrams + bigrams)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099816"/>
            <a:ext cx="3931920" cy="420624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3099816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3099816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lbfgs, max_iter=1000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575304"/>
            <a:ext cx="39319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57530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3575304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explainable, lightweight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050792"/>
            <a:ext cx="3931920" cy="420624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405079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28800" y="4050792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word order &amp; context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1051560"/>
            <a:ext cx="40233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1051560"/>
            <a:ext cx="402336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10515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· Transformer (DL)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162763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Fine-Tuned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892040" y="2148840"/>
            <a:ext cx="3931920" cy="42062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83480" y="214884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214884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Transformers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92040" y="2624328"/>
            <a:ext cx="39319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83480" y="262432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262432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distilbert-base-uncased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92040" y="3099816"/>
            <a:ext cx="3931920" cy="42062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83480" y="3099816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3099816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epochs, batch size 8, lr 2e-5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92040" y="3575304"/>
            <a:ext cx="39319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83480" y="357530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3575304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Context-aware, state-of-the-art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92040" y="4050792"/>
            <a:ext cx="3931920" cy="42062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83480" y="405079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0" y="4050792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Slower; requires GPU for speed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251960" y="2560320"/>
            <a:ext cx="640080" cy="640080"/>
          </a:xfrm>
          <a:prstGeom prst="ellipse">
            <a:avLst/>
          </a:prstGeom>
          <a:solidFill>
            <a:srgbClr val="1A2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25196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Comparison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353312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84632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 Comparison</a:t>
            </a:r>
            <a:endParaRPr lang="en-US" sz="14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4663440" y="1353312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274320" y="3749040"/>
            <a:ext cx="8503920" cy="1097280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274320" y="3749040"/>
            <a:ext cx="91440" cy="1097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48640" y="38221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advantage: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" y="4169664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LR and DistilBERT disagree, probability averaging resolves conflicts reliably — delivering the highest combined F1 and reducing per-class variance across all three sentiment labels.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0233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023360" cy="4114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GridSearchCV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15544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Values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55448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920240"/>
            <a:ext cx="3886200" cy="38404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92024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91640" y="19202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 / 5000 / 8000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54680" y="1984248"/>
            <a:ext cx="822960" cy="256032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54680" y="192024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359152"/>
            <a:ext cx="38862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ngram_range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91640" y="23591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(1,1) / (1,2)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54680" y="2423160"/>
            <a:ext cx="822960" cy="256032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154680" y="2359152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(1,2)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798064"/>
            <a:ext cx="3886200" cy="38404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2798064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(reg.)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91640" y="279806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/ 1.0 / 10.0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54680" y="2862072"/>
            <a:ext cx="822960" cy="256032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154680" y="279806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236976"/>
            <a:ext cx="38862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3236976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folds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691640" y="32369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154680" y="3300984"/>
            <a:ext cx="822960" cy="256032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154680" y="3236976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3675888"/>
            <a:ext cx="3886200" cy="38404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367588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691640" y="36758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f1_macro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154680" y="3739896"/>
            <a:ext cx="822960" cy="256032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154680" y="367588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46320" y="1051560"/>
            <a:ext cx="40233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46320" y="1051560"/>
            <a:ext cx="4023360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46320" y="1051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— Manual Tuning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83480" y="15544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17920" y="155448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Values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680960" y="155448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92040" y="1920240"/>
            <a:ext cx="3886200" cy="384048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983480" y="19202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217920" y="19202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2e-5 / 3e-5 / 5e-5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662672" y="1984248"/>
            <a:ext cx="822960" cy="256032"/>
          </a:xfrm>
          <a:prstGeom prst="rect">
            <a:avLst/>
          </a:prstGeom>
          <a:solidFill>
            <a:srgbClr val="2563EB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662672" y="192024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2e-5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92040" y="2359152"/>
            <a:ext cx="38862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983480" y="235915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217920" y="23591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 / 32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662672" y="2423160"/>
            <a:ext cx="822960" cy="256032"/>
          </a:xfrm>
          <a:prstGeom prst="rect">
            <a:avLst/>
          </a:prstGeom>
          <a:solidFill>
            <a:srgbClr val="2563EB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662672" y="2359152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892040" y="2798064"/>
            <a:ext cx="3886200" cy="384048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983480" y="279806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217920" y="279806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 / 4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662672" y="2862072"/>
            <a:ext cx="822960" cy="256032"/>
          </a:xfrm>
          <a:prstGeom prst="rect">
            <a:avLst/>
          </a:prstGeom>
          <a:solidFill>
            <a:srgbClr val="2563EB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662672" y="279806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892040" y="3236976"/>
            <a:ext cx="38862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983480" y="323697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Steps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217920" y="32369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100 / 500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662672" y="3300984"/>
            <a:ext cx="822960" cy="256032"/>
          </a:xfrm>
          <a:prstGeom prst="rect">
            <a:avLst/>
          </a:prstGeom>
          <a:solidFill>
            <a:srgbClr val="2563EB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662672" y="3236976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892040" y="3675888"/>
            <a:ext cx="3886200" cy="384048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983480" y="367588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217920" y="36758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eval_strategy=epoch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7662672" y="3739896"/>
            <a:ext cx="822960" cy="256032"/>
          </a:xfrm>
          <a:prstGeom prst="rect">
            <a:avLst/>
          </a:prstGeom>
          <a:solidFill>
            <a:srgbClr val="2563EB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662672" y="367588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Streamlit GUI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486400" cy="3913632"/>
          </a:xfrm>
          <a:prstGeom prst="rect">
            <a:avLst/>
          </a:prstGeom>
          <a:solidFill>
            <a:srgbClr val="0D1B2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5486400" cy="347472"/>
          </a:xfrm>
          <a:prstGeom prst="rect">
            <a:avLst/>
          </a:prstGeom>
          <a:solidFill>
            <a:srgbClr val="161D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78408"/>
            <a:ext cx="146304" cy="146304"/>
          </a:xfrm>
          <a:prstGeom prst="ellipse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21792" y="97840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32104" y="97840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9601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localhost:8501 — Sentiment Analyser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Facebook Sentiment Analyser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5029200" cy="822960"/>
          </a:xfrm>
          <a:prstGeom prst="rect">
            <a:avLst/>
          </a:prstGeom>
          <a:solidFill>
            <a:srgbClr val="1A2840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190195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"Absolutely loved the new update — best thing they've done in years!"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155448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788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48840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Ensemble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5029200" cy="868680"/>
          </a:xfrm>
          <a:prstGeom prst="rect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" y="333756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36118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94.3%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3383280"/>
            <a:ext cx="2011680" cy="128016"/>
          </a:xfrm>
          <a:prstGeom prst="rect">
            <a:avLst/>
          </a:prstGeom>
          <a:solidFill>
            <a:srgbClr val="1A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0" y="3383280"/>
            <a:ext cx="1892808" cy="12801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0" y="3566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LR: 91%  ·  DistilBERT: 97%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89320" y="914400"/>
            <a:ext cx="2834640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989320" y="914400"/>
            <a:ext cx="2834640" cy="38404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89320" y="9144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Features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80760" y="1417320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92240" y="141732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input area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1892808"/>
            <a:ext cx="246888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080760" y="1965960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🔀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92240" y="196596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selector (LR / DistilBERT / Ensemble)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2441448"/>
            <a:ext cx="246888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080760" y="2514600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92240" y="251460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 per class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2990088"/>
            <a:ext cx="246888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080760" y="3063240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92240" y="306324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sentiment result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26480" y="3538728"/>
            <a:ext cx="246888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080760" y="3611880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92240" y="361188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 on submit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26480" y="4087368"/>
            <a:ext cx="246888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080760" y="4160520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92240" y="416052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probability display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74320" y="484632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mock UI with your actual Streamlit screenshot ]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0233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023360" cy="41148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 Limitations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🎭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16002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Sarcasm &amp; irony not reliably detected by either model.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374904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221992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😍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222199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Emoji-heavy posts may confuse the text-based pipeline.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70632"/>
            <a:ext cx="374904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843784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284378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not Facebook-specific; domain gap may hurt accuracy.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92424"/>
            <a:ext cx="374904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46557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💻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346557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fine-tuning is slow on CPU — GPU strongly recommended.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014216"/>
            <a:ext cx="374904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408736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⚖️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408736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uses fixed 50/50 weight; adaptive weighting could help.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1051560"/>
            <a:ext cx="40233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46320" y="1051560"/>
            <a:ext cx="4023360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1051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Improvements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83480" y="16002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🤖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394960" y="16002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to RoBERTa or BERT-large for higher accuracy.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2148840"/>
            <a:ext cx="374904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83480" y="2221992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🌍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94960" y="222199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multi-language support (Arabic, French, Spanish).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2770632"/>
            <a:ext cx="374904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83480" y="2843784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📡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394960" y="284378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Facebook Graph API integration.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37760" y="3392424"/>
            <a:ext cx="374904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83480" y="346557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🔍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394960" y="346557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LIME/SHAP explainability layer for prediction reasoning.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37760" y="4014216"/>
            <a:ext cx="374904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83480" y="408736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☁️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394960" y="408736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Hugging Face Spaces or Streamlit Cloud.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920240"/>
          </a:xfrm>
          <a:prstGeom prst="rect">
            <a:avLst/>
          </a:prstGeom>
          <a:solidFill>
            <a:srgbClr val="0D1B2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91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" y="1143000"/>
            <a:ext cx="502920" cy="502920"/>
          </a:xfrm>
          <a:prstGeom prst="ellipse">
            <a:avLst/>
          </a:prstGeom>
          <a:solidFill>
            <a:srgbClr val="2563EB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1143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Win on Accuracy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1848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(92-94% F1) consistently outperforms TF-IDF + Logistic Regression (87-88%) by capturing contextual semantics that bag-of-words models cannot.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60520" cy="1920240"/>
          </a:xfrm>
          <a:prstGeom prst="rect">
            <a:avLst/>
          </a:prstGeom>
          <a:solidFill>
            <a:srgbClr val="0D1B2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160520" cy="914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73752" y="1143000"/>
            <a:ext cx="502920" cy="502920"/>
          </a:xfrm>
          <a:prstGeom prst="ellipse">
            <a:avLst/>
          </a:prstGeom>
          <a:solidFill>
            <a:srgbClr val="10B981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73752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0" y="1143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Adds Stability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61848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averaging resolves model disagreements, reduces variance across classes, and achieves the highest combined F1-macro on the test set.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4160520" cy="1920240"/>
          </a:xfrm>
          <a:prstGeom prst="rect">
            <a:avLst/>
          </a:prstGeom>
          <a:solidFill>
            <a:srgbClr val="0D1B2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416052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8912" y="3200400"/>
            <a:ext cx="502920" cy="502920"/>
          </a:xfrm>
          <a:prstGeom prst="ellipse">
            <a:avLst/>
          </a:prstGeom>
          <a:solidFill>
            <a:srgbClr val="F59E0B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5156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Delivered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67588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NLP workflow — from raw data loading through EDA, preprocessing, training, evaluation, and hyperparameter tuning — was implemented and documented.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3017520"/>
            <a:ext cx="4160520" cy="1920240"/>
          </a:xfrm>
          <a:prstGeom prst="rect">
            <a:avLst/>
          </a:prstGeom>
          <a:solidFill>
            <a:srgbClr val="0D1B2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09160" y="3017520"/>
            <a:ext cx="4160520" cy="9144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73752" y="3200400"/>
            <a:ext cx="502920" cy="502920"/>
          </a:xfrm>
          <a:prstGeom prst="ellipse">
            <a:avLst/>
          </a:prstGeom>
          <a:solidFill>
            <a:srgbClr val="F43F5E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73752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GUI Achieved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67588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Streamlit application lets any user analyse Facebook posts in real time with model selection, confidence scores, and colour-coded results.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A2E5A">
              <a:alpha val="40000"/>
            </a:srgbClr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0" y="822960"/>
            <a:ext cx="2194560" cy="2194560"/>
          </a:xfrm>
          <a:prstGeom prst="ellipse">
            <a:avLst/>
          </a:prstGeom>
          <a:solidFill>
            <a:srgbClr val="2563EB">
              <a:alpha val="80000"/>
            </a:srgbClr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0" y="82296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 &amp; Discussion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love to hear your feedback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71600" y="4480560"/>
            <a:ext cx="6400800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44805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· [Your Names]   |   Supervised by Prof. Dr. [Name]   |  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982</Words>
  <Application>Microsoft Office PowerPoint</Application>
  <PresentationFormat>On-screen Show (16:9)</PresentationFormat>
  <Paragraphs>240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Facebook Posts Sentiment Analysis</dc:title>
  <dc:subject>PptxGenJS Presentation</dc:subject>
  <dc:creator>PptxGenJS</dc:creator>
  <cp:lastModifiedBy>Micheal Perty</cp:lastModifiedBy>
  <cp:revision>2</cp:revision>
  <dcterms:created xsi:type="dcterms:W3CDTF">2026-05-09T14:03:48Z</dcterms:created>
  <dcterms:modified xsi:type="dcterms:W3CDTF">2026-05-10T07:43:26Z</dcterms:modified>
</cp:coreProperties>
</file>